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Fraunces Extra Bold"/>
      <p:regular r:id="rId17"/>
    </p:embeddedFont>
    <p:embeddedFont>
      <p:font typeface="Fraunces Extra Bold"/>
      <p:regular r:id="rId18"/>
    </p:embeddedFont>
    <p:embeddedFont>
      <p:font typeface="Nobile"/>
      <p:regular r:id="rId19"/>
    </p:embeddedFont>
    <p:embeddedFont>
      <p:font typeface="Nobile"/>
      <p:regular r:id="rId20"/>
    </p:embeddedFont>
    <p:embeddedFont>
      <p:font typeface="Nobile"/>
      <p:regular r:id="rId21"/>
    </p:embeddedFont>
    <p:embeddedFont>
      <p:font typeface="Nobile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8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3719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CropXpert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136702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IoT-Enabled, ML-Driven Precision Agriculture Platform with Multilingual Farmer Support Portal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18552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Minor Project | Department of CINTEL, School of Computing | SRM Institute of Science and Technology, Kattankulathur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16647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Team: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Adnan Nagdiwala (RA2311026010119) | Chandra Bhayal (RA2311026010072) |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Guide: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Dr. R. Siva |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Academic Year: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2024–2025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2465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Problem — India's Farming Crisis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895719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40%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280190" y="3927515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Yield Loss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4417933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Yield loss from poor crop-soil matching among 140M+ Indian smallholders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893493" y="2895719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50+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8893493" y="3927515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Lab Distance (km)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93493" y="4772263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affordable soil testing — nearest lab is 50+ km away for most farmers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506795" y="2895719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31%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1506795" y="3927515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No 4G Coverage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506795" y="4417933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31% of Indian villages have no 4G internet; farmers rely on intuition, not data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90" y="647902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Indian farmers need real-time soil intelligence — not a lab appointment.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071" y="662702"/>
            <a:ext cx="6355318" cy="676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Introducing CropXpert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8071" y="1835825"/>
            <a:ext cx="6292929" cy="1693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CropXpert is an integrated IoT + ML platform that reads soil data in real-time, recommends the most profitable crop using AI, and connects farmers to government welfare — all in their own language, from any device including basic keypad phones.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071" y="3714988"/>
            <a:ext cx="6292929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Complete IoT Hardware: ≈ ₹3,600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87020" y="1997452"/>
            <a:ext cx="108228" cy="108228"/>
          </a:xfrm>
          <a:prstGeom prst="roundRect">
            <a:avLst>
              <a:gd name="adj" fmla="val 422442"/>
            </a:avLst>
          </a:prstGeom>
          <a:solidFill>
            <a:srgbClr val="438951"/>
          </a:solidFill>
          <a:ln/>
        </p:spPr>
      </p:sp>
      <p:sp>
        <p:nvSpPr>
          <p:cNvPr id="6" name="Text 4"/>
          <p:cNvSpPr/>
          <p:nvPr/>
        </p:nvSpPr>
        <p:spPr>
          <a:xfrm>
            <a:off x="7902059" y="1882378"/>
            <a:ext cx="5459016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Real-Time NPK + pH + Moisture Sensing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587020" y="2749451"/>
            <a:ext cx="108228" cy="108228"/>
          </a:xfrm>
          <a:prstGeom prst="roundRect">
            <a:avLst>
              <a:gd name="adj" fmla="val 422442"/>
            </a:avLst>
          </a:prstGeom>
          <a:solidFill>
            <a:srgbClr val="438951"/>
          </a:solidFill>
          <a:ln/>
        </p:spPr>
      </p:sp>
      <p:sp>
        <p:nvSpPr>
          <p:cNvPr id="8" name="Text 6"/>
          <p:cNvSpPr/>
          <p:nvPr/>
        </p:nvSpPr>
        <p:spPr>
          <a:xfrm>
            <a:off x="7902059" y="2634377"/>
            <a:ext cx="5977890" cy="676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Random Forest ML (89.2% accuracy, 22 crops)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587020" y="3839825"/>
            <a:ext cx="108228" cy="108228"/>
          </a:xfrm>
          <a:prstGeom prst="roundRect">
            <a:avLst>
              <a:gd name="adj" fmla="val 422442"/>
            </a:avLst>
          </a:prstGeom>
          <a:solidFill>
            <a:srgbClr val="438951"/>
          </a:solidFill>
          <a:ln/>
        </p:spPr>
      </p:sp>
      <p:sp>
        <p:nvSpPr>
          <p:cNvPr id="10" name="Text 8"/>
          <p:cNvSpPr/>
          <p:nvPr/>
        </p:nvSpPr>
        <p:spPr>
          <a:xfrm>
            <a:off x="7902059" y="3724751"/>
            <a:ext cx="5601414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Live Market Prices via AGMARKNET API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587020" y="4591824"/>
            <a:ext cx="108228" cy="108228"/>
          </a:xfrm>
          <a:prstGeom prst="roundRect">
            <a:avLst>
              <a:gd name="adj" fmla="val 422442"/>
            </a:avLst>
          </a:prstGeom>
          <a:solidFill>
            <a:srgbClr val="438951"/>
          </a:solidFill>
          <a:ln/>
        </p:spPr>
      </p:sp>
      <p:sp>
        <p:nvSpPr>
          <p:cNvPr id="12" name="Text 10"/>
          <p:cNvSpPr/>
          <p:nvPr/>
        </p:nvSpPr>
        <p:spPr>
          <a:xfrm>
            <a:off x="7902059" y="4476750"/>
            <a:ext cx="5977890" cy="676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 Indian Languages (Hindi, Marathi, Tamil, Telugu)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587020" y="5682198"/>
            <a:ext cx="108228" cy="108228"/>
          </a:xfrm>
          <a:prstGeom prst="roundRect">
            <a:avLst>
              <a:gd name="adj" fmla="val 422442"/>
            </a:avLst>
          </a:prstGeom>
          <a:solidFill>
            <a:srgbClr val="438951"/>
          </a:solidFill>
          <a:ln/>
        </p:spPr>
      </p:sp>
      <p:sp>
        <p:nvSpPr>
          <p:cNvPr id="14" name="Text 12"/>
          <p:cNvSpPr/>
          <p:nvPr/>
        </p:nvSpPr>
        <p:spPr>
          <a:xfrm>
            <a:off x="7902059" y="5567124"/>
            <a:ext cx="5977890" cy="676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WhatsApp + SMS CropBot (zero smartphone required)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587020" y="6772573"/>
            <a:ext cx="108228" cy="108228"/>
          </a:xfrm>
          <a:prstGeom prst="roundRect">
            <a:avLst>
              <a:gd name="adj" fmla="val 422442"/>
            </a:avLst>
          </a:prstGeom>
          <a:solidFill>
            <a:srgbClr val="438951"/>
          </a:solidFill>
          <a:ln/>
        </p:spPr>
      </p:sp>
      <p:sp>
        <p:nvSpPr>
          <p:cNvPr id="16" name="Text 14"/>
          <p:cNvSpPr/>
          <p:nvPr/>
        </p:nvSpPr>
        <p:spPr>
          <a:xfrm>
            <a:off x="7902059" y="6657499"/>
            <a:ext cx="5977890" cy="676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Government Schemes &amp; Loan Advisory Portal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6198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System Architecture — 5-Layer Microservices Design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128486"/>
            <a:ext cx="7556421" cy="34581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28904" y="3462316"/>
            <a:ext cx="1842434" cy="41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Processing &amp; Interfaces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328904" y="3939640"/>
            <a:ext cx="1842434" cy="33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ML + DB, Frontend, Twilio for farmers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994761" y="4703452"/>
            <a:ext cx="1671563" cy="208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MQTT Broker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72473" y="4971830"/>
            <a:ext cx="1693851" cy="33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Event-driven message routing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328904" y="5290356"/>
            <a:ext cx="1671563" cy="208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Core IoT Sensors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328904" y="5558734"/>
            <a:ext cx="1842434" cy="33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Field sensors collecting telemetry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93790" y="684180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Architecture Style: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Microservices + Event-Driven (MQTT) |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LoRa Extension (v2.0):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5–15 km offline rural coverage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707" y="795457"/>
            <a:ext cx="10573226" cy="627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IoT Hardware Module — Field Sensor Unit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2707" y="1493996"/>
            <a:ext cx="3498056" cy="376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Bill of Materials (BOM)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702707" y="2137053"/>
            <a:ext cx="13224986" cy="4794409"/>
          </a:xfrm>
          <a:prstGeom prst="roundRect">
            <a:avLst>
              <a:gd name="adj" fmla="val 37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0327" y="2144673"/>
            <a:ext cx="13209746" cy="5310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1185" y="2258854"/>
            <a:ext cx="4878586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Component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198870" y="2258854"/>
            <a:ext cx="4214217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Specification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822186" y="2258854"/>
            <a:ext cx="2897148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Cost (₹)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0327" y="2675692"/>
            <a:ext cx="13209746" cy="5310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1185" y="2789873"/>
            <a:ext cx="4878586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RS485 NPK Sensor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198870" y="2789873"/>
            <a:ext cx="4214217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N, P, K in mg/kg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822186" y="2789873"/>
            <a:ext cx="2897148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1,800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10327" y="3206710"/>
            <a:ext cx="13209746" cy="5310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1185" y="3320891"/>
            <a:ext cx="4878586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Soil pH Sensor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198870" y="3320891"/>
            <a:ext cx="4214217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Analog, ±0.1 accuracy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0822186" y="3320891"/>
            <a:ext cx="2897148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350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10327" y="3737729"/>
            <a:ext cx="13209746" cy="5310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11185" y="3851910"/>
            <a:ext cx="4878586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Capacitive Moisture Sensor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198870" y="3851910"/>
            <a:ext cx="4214217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0–100%, corrosion-resistant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0822186" y="3851910"/>
            <a:ext cx="2897148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200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10327" y="4268748"/>
            <a:ext cx="13209746" cy="5310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11185" y="4382929"/>
            <a:ext cx="4878586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DHT22 Temp + Humidity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198870" y="4382929"/>
            <a:ext cx="4214217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±0.5°C, ±2–5% RH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822186" y="4382929"/>
            <a:ext cx="2897148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250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10327" y="4799767"/>
            <a:ext cx="13209746" cy="5310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11185" y="4913948"/>
            <a:ext cx="4878586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Arduino UNO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198870" y="4913948"/>
            <a:ext cx="4214217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ATmega328P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0822186" y="4913948"/>
            <a:ext cx="2897148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500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710327" y="5330785"/>
            <a:ext cx="13209746" cy="5310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11185" y="5444966"/>
            <a:ext cx="4878586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ESP8266 Wi-Fi Module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198870" y="5444966"/>
            <a:ext cx="4214217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MQTT over Wi-Fi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10822186" y="5444966"/>
            <a:ext cx="2897148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200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710327" y="5861804"/>
            <a:ext cx="13209746" cy="5310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11185" y="5975985"/>
            <a:ext cx="4878586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Miscellaneous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6198870" y="5975985"/>
            <a:ext cx="4214217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Wires, PCB, case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10822186" y="5975985"/>
            <a:ext cx="2897148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300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710327" y="6392823"/>
            <a:ext cx="13209746" cy="5310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11185" y="6507004"/>
            <a:ext cx="4878586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TOTAL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6198870" y="6507004"/>
            <a:ext cx="4214217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—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10822186" y="6507004"/>
            <a:ext cx="2897148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≈3,600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702707" y="7131368"/>
            <a:ext cx="13224986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Pipeline: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Sensor → MAX485 → Arduino → ESP8266 → MQTT → Cloud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474" y="1032867"/>
            <a:ext cx="12815292" cy="66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ML Recommendation Engine — 89.2% Accuracy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7474" y="2203013"/>
            <a:ext cx="2669619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Dataset Overview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47474" y="2737723"/>
            <a:ext cx="3985617" cy="2271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2,200 samples, 22 Indian crops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Kaggle + ICAR augmentation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 features: N, P, K, pH, Moisture, Temp, Rainfall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70/15/15 train/val/test split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5-fold cross-validation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261729" y="2203013"/>
            <a:ext cx="2669619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 Comparison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261729" y="2762845"/>
            <a:ext cx="3985617" cy="4207669"/>
          </a:xfrm>
          <a:prstGeom prst="roundRect">
            <a:avLst>
              <a:gd name="adj" fmla="val 482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69349" y="2770465"/>
            <a:ext cx="3970377" cy="5881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2947" y="2898696"/>
            <a:ext cx="155436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471886" y="2898696"/>
            <a:ext cx="155436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Accuracy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269349" y="3358634"/>
            <a:ext cx="3970377" cy="9198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2947" y="3486864"/>
            <a:ext cx="1554361" cy="663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 Forest ✓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471886" y="3486864"/>
            <a:ext cx="155436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99.2%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269349" y="4278511"/>
            <a:ext cx="3970377" cy="5881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2947" y="4406741"/>
            <a:ext cx="155436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XGBoost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471886" y="4406741"/>
            <a:ext cx="155436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98.7%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269349" y="4866680"/>
            <a:ext cx="3970377" cy="5881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2947" y="4994910"/>
            <a:ext cx="155436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LightGBM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471886" y="4994910"/>
            <a:ext cx="155436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98.5%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5269349" y="5454848"/>
            <a:ext cx="3970377" cy="5881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2947" y="5583079"/>
            <a:ext cx="155436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SVM (RBF)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71886" y="5583079"/>
            <a:ext cx="155436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97.8%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5269349" y="6043017"/>
            <a:ext cx="3970377" cy="9198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2947" y="6171248"/>
            <a:ext cx="1554361" cy="663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MLP (Neural Net)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471886" y="6171248"/>
            <a:ext cx="1554361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97.1%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775984" y="2203013"/>
            <a:ext cx="2704743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Feature Importance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775984" y="2737723"/>
            <a:ext cx="4122182" cy="194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Rainfall: 28.4%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Humidity: 21.7%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NPK combined: 21.5%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pH: 16.3%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Temperature: 12.1%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775984" y="4858703"/>
            <a:ext cx="4122182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Inference: 2.3 ms | Model: 4.7 MB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9498" y="905947"/>
            <a:ext cx="6384727" cy="50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What Makes CropXpert Unique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699498" y="1461254"/>
            <a:ext cx="2246828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5 Novel Contributions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99498" y="1890713"/>
            <a:ext cx="5557242" cy="2018586"/>
          </a:xfrm>
          <a:prstGeom prst="roundRect">
            <a:avLst>
              <a:gd name="adj" fmla="val 7257"/>
            </a:avLst>
          </a:prstGeom>
          <a:solidFill>
            <a:srgbClr val="E8F3E8"/>
          </a:solidFill>
          <a:ln/>
        </p:spPr>
      </p:sp>
      <p:sp>
        <p:nvSpPr>
          <p:cNvPr id="5" name="Shape 3"/>
          <p:cNvSpPr/>
          <p:nvPr/>
        </p:nvSpPr>
        <p:spPr>
          <a:xfrm>
            <a:off x="1862257" y="2053471"/>
            <a:ext cx="488275" cy="488275"/>
          </a:xfrm>
          <a:prstGeom prst="roundRect">
            <a:avLst>
              <a:gd name="adj" fmla="val 18725279"/>
            </a:avLst>
          </a:prstGeom>
          <a:solidFill>
            <a:srgbClr val="43895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6559" y="2187773"/>
            <a:ext cx="219670" cy="2196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62257" y="2658547"/>
            <a:ext cx="3374350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Market-Aware Recommendation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62257" y="2982873"/>
            <a:ext cx="5231725" cy="44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First Indian crop recommender integrating live AGMARKNET MSP data into AI ranking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862257" y="3500080"/>
            <a:ext cx="523172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Score(c) = 0.60×P_ML + 0.25×MSP_Index + 0.15×SeasonDemand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73541" y="1890713"/>
            <a:ext cx="5557242" cy="2018586"/>
          </a:xfrm>
          <a:prstGeom prst="roundRect">
            <a:avLst>
              <a:gd name="adj" fmla="val 7257"/>
            </a:avLst>
          </a:prstGeom>
          <a:solidFill>
            <a:srgbClr val="E8F3E8"/>
          </a:solidFill>
          <a:ln/>
        </p:spPr>
      </p:sp>
      <p:sp>
        <p:nvSpPr>
          <p:cNvPr id="11" name="Shape 8"/>
          <p:cNvSpPr/>
          <p:nvPr/>
        </p:nvSpPr>
        <p:spPr>
          <a:xfrm>
            <a:off x="7536299" y="2053471"/>
            <a:ext cx="488275" cy="488275"/>
          </a:xfrm>
          <a:prstGeom prst="roundRect">
            <a:avLst>
              <a:gd name="adj" fmla="val 18725279"/>
            </a:avLst>
          </a:prstGeom>
          <a:solidFill>
            <a:srgbClr val="4389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0602" y="2187773"/>
            <a:ext cx="219670" cy="21967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36299" y="2658547"/>
            <a:ext cx="2740223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Vernacular-First Interface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536299" y="2982873"/>
            <a:ext cx="5231725" cy="44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Hindi, Marathi, Tamil, Telugu — covering 400M+ Indian farmers who don't read English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1699498" y="4026098"/>
            <a:ext cx="5557242" cy="1702118"/>
          </a:xfrm>
          <a:prstGeom prst="roundRect">
            <a:avLst>
              <a:gd name="adj" fmla="val 8607"/>
            </a:avLst>
          </a:prstGeom>
          <a:solidFill>
            <a:srgbClr val="E8F3E8"/>
          </a:solidFill>
          <a:ln/>
        </p:spPr>
      </p:sp>
      <p:sp>
        <p:nvSpPr>
          <p:cNvPr id="16" name="Shape 12"/>
          <p:cNvSpPr/>
          <p:nvPr/>
        </p:nvSpPr>
        <p:spPr>
          <a:xfrm>
            <a:off x="1862257" y="4188857"/>
            <a:ext cx="488275" cy="488275"/>
          </a:xfrm>
          <a:prstGeom prst="roundRect">
            <a:avLst>
              <a:gd name="adj" fmla="val 18725279"/>
            </a:avLst>
          </a:prstGeom>
          <a:solidFill>
            <a:srgbClr val="43895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96559" y="4323159"/>
            <a:ext cx="219670" cy="21967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62257" y="4793933"/>
            <a:ext cx="2588300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Zero-Smartphone Access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62257" y="5118259"/>
            <a:ext cx="5231725" cy="44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Farmers text CROP N90 P42 K43 PH6.5 DIST PUNE via SMS shortcode — any ₹500 keypad phone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373541" y="4026098"/>
            <a:ext cx="5557242" cy="1702118"/>
          </a:xfrm>
          <a:prstGeom prst="roundRect">
            <a:avLst>
              <a:gd name="adj" fmla="val 8607"/>
            </a:avLst>
          </a:prstGeom>
          <a:solidFill>
            <a:srgbClr val="E8F3E8"/>
          </a:solidFill>
          <a:ln/>
        </p:spPr>
      </p:sp>
      <p:sp>
        <p:nvSpPr>
          <p:cNvPr id="21" name="Shape 16"/>
          <p:cNvSpPr/>
          <p:nvPr/>
        </p:nvSpPr>
        <p:spPr>
          <a:xfrm>
            <a:off x="7536299" y="4188857"/>
            <a:ext cx="488275" cy="488275"/>
          </a:xfrm>
          <a:prstGeom prst="roundRect">
            <a:avLst>
              <a:gd name="adj" fmla="val 18725279"/>
            </a:avLst>
          </a:prstGeom>
          <a:solidFill>
            <a:srgbClr val="43895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0602" y="4323159"/>
            <a:ext cx="219670" cy="21967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36299" y="4793933"/>
            <a:ext cx="304716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LoRa Offline Extension (v2.0)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536299" y="5118259"/>
            <a:ext cx="5231725" cy="44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LoRa SX1276 + ESP32 + RAK2245 gateway → 5–15 km rural coverage, 1,000 nodes/gateway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1699498" y="5845016"/>
            <a:ext cx="11231285" cy="1478518"/>
          </a:xfrm>
          <a:prstGeom prst="roundRect">
            <a:avLst>
              <a:gd name="adj" fmla="val 9908"/>
            </a:avLst>
          </a:prstGeom>
          <a:solidFill>
            <a:srgbClr val="E8F3E8"/>
          </a:solidFill>
          <a:ln/>
        </p:spPr>
      </p:sp>
      <p:sp>
        <p:nvSpPr>
          <p:cNvPr id="26" name="Shape 20"/>
          <p:cNvSpPr/>
          <p:nvPr/>
        </p:nvSpPr>
        <p:spPr>
          <a:xfrm>
            <a:off x="1862257" y="6007775"/>
            <a:ext cx="488275" cy="488275"/>
          </a:xfrm>
          <a:prstGeom prst="roundRect">
            <a:avLst>
              <a:gd name="adj" fmla="val 18725279"/>
            </a:avLst>
          </a:prstGeom>
          <a:solidFill>
            <a:srgbClr val="43895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96559" y="6142077"/>
            <a:ext cx="219670" cy="21967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862257" y="6612850"/>
            <a:ext cx="2664738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Integrated Welfare Portal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1862257" y="6937177"/>
            <a:ext cx="10905768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PM-KISAN, PM Fasal Bima, KCC, NABARD loans — all in one place, auto-filtered by state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97499" y="1109782"/>
            <a:ext cx="10023158" cy="490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Farmers Support Portal — Closing the Welfare Gap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1897499" y="1817846"/>
            <a:ext cx="10835283" cy="1160264"/>
          </a:xfrm>
          <a:prstGeom prst="roundRect">
            <a:avLst>
              <a:gd name="adj" fmla="val 12181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359" y="1840706"/>
            <a:ext cx="628055" cy="1114544"/>
          </a:xfrm>
          <a:prstGeom prst="roundRect">
            <a:avLst>
              <a:gd name="adj" fmla="val 18135"/>
            </a:avLst>
          </a:prstGeom>
          <a:solidFill>
            <a:srgbClr val="E8F3E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16574" y="2280166"/>
            <a:ext cx="235506" cy="2355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57118" y="1997631"/>
            <a:ext cx="2164437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Government Schemes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657118" y="2308146"/>
            <a:ext cx="989588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PM-KISAN (₹6,000/yr), PM Fasal Bima Yojana, Soil Health Card Scheme, PMKSY irrigation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657118" y="2585799"/>
            <a:ext cx="989588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Auto-filtered by state | Live apply links | Monthly updates from MyScheme.gov.in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897499" y="3086814"/>
            <a:ext cx="10835283" cy="1160264"/>
          </a:xfrm>
          <a:prstGeom prst="roundRect">
            <a:avLst>
              <a:gd name="adj" fmla="val 12181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20359" y="3109674"/>
            <a:ext cx="628055" cy="1114544"/>
          </a:xfrm>
          <a:prstGeom prst="roundRect">
            <a:avLst>
              <a:gd name="adj" fmla="val 18135"/>
            </a:avLst>
          </a:prstGeom>
          <a:solidFill>
            <a:srgbClr val="E8F3E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6574" y="3549134"/>
            <a:ext cx="235506" cy="2355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7118" y="3266599"/>
            <a:ext cx="2643783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Loan &amp; Financial Guidance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657118" y="3577114"/>
            <a:ext cx="989588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KCC at 0–4% interest, NABARD zero-interest schemes, state loan waivers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657118" y="3854768"/>
            <a:ext cx="989588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EMI calculator for KCC | Eligibility checker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897499" y="4355783"/>
            <a:ext cx="10835283" cy="1160264"/>
          </a:xfrm>
          <a:prstGeom prst="roundRect">
            <a:avLst>
              <a:gd name="adj" fmla="val 12181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920359" y="4378643"/>
            <a:ext cx="628055" cy="1114544"/>
          </a:xfrm>
          <a:prstGeom prst="roundRect">
            <a:avLst>
              <a:gd name="adj" fmla="val 18135"/>
            </a:avLst>
          </a:prstGeom>
          <a:solidFill>
            <a:srgbClr val="E8F3E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16574" y="4818102"/>
            <a:ext cx="235506" cy="2355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657118" y="4535567"/>
            <a:ext cx="2269808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Farm Profit Calculator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2657118" y="4846082"/>
            <a:ext cx="989588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Input: crop + acreage + location → Output: estimated input cost, expected yield, net profit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2657118" y="5123736"/>
            <a:ext cx="989588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Comparison table for top-3 recommended crops side by side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1897499" y="5624751"/>
            <a:ext cx="10835283" cy="1160264"/>
          </a:xfrm>
          <a:prstGeom prst="roundRect">
            <a:avLst>
              <a:gd name="adj" fmla="val 12181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920359" y="5647611"/>
            <a:ext cx="628055" cy="1114544"/>
          </a:xfrm>
          <a:prstGeom prst="roundRect">
            <a:avLst>
              <a:gd name="adj" fmla="val 18135"/>
            </a:avLst>
          </a:prstGeom>
          <a:solidFill>
            <a:srgbClr val="E8F3E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16574" y="6087070"/>
            <a:ext cx="235506" cy="23550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657118" y="5804535"/>
            <a:ext cx="2728317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CropBot (WhatsApp + SMS)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2657118" y="6115050"/>
            <a:ext cx="989588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WhatsApp: Natural language in Hindi/English → Twilio webhook → ML API → formatted reply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2657118" y="6392704"/>
            <a:ext cx="989588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SMS: Structured shortcode → MSG91 → top-1 crop + MSP price in 160 characters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897499" y="6907292"/>
            <a:ext cx="10835283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Coverage: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4 languages | 22 crops | 6 schemes | 5 loan programs | 2 bot channels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188" y="659606"/>
            <a:ext cx="10384036" cy="595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Agile Roadmap — 5 Sprints, 30 User Stories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7303770" y="1574840"/>
            <a:ext cx="22860" cy="5534978"/>
          </a:xfrm>
          <a:prstGeom prst="roundRect">
            <a:avLst>
              <a:gd name="adj" fmla="val 749972"/>
            </a:avLst>
          </a:prstGeom>
          <a:solidFill>
            <a:srgbClr val="CED9CE"/>
          </a:solidFill>
          <a:ln/>
        </p:spPr>
      </p:sp>
      <p:sp>
        <p:nvSpPr>
          <p:cNvPr id="4" name="Shape 2"/>
          <p:cNvSpPr/>
          <p:nvPr/>
        </p:nvSpPr>
        <p:spPr>
          <a:xfrm>
            <a:off x="6552426" y="1777603"/>
            <a:ext cx="571381" cy="22860"/>
          </a:xfrm>
          <a:prstGeom prst="roundRect">
            <a:avLst>
              <a:gd name="adj" fmla="val 749972"/>
            </a:avLst>
          </a:prstGeom>
          <a:solidFill>
            <a:srgbClr val="CED9CE"/>
          </a:solidFill>
          <a:ln/>
        </p:spPr>
      </p:sp>
      <p:sp>
        <p:nvSpPr>
          <p:cNvPr id="5" name="Shape 3"/>
          <p:cNvSpPr/>
          <p:nvPr/>
        </p:nvSpPr>
        <p:spPr>
          <a:xfrm>
            <a:off x="7100947" y="1574840"/>
            <a:ext cx="428506" cy="428506"/>
          </a:xfrm>
          <a:prstGeom prst="roundRect">
            <a:avLst>
              <a:gd name="adj" fmla="val 40010"/>
            </a:avLst>
          </a:prstGeom>
          <a:solidFill>
            <a:srgbClr val="E8F3E8"/>
          </a:solidFill>
          <a:ln/>
        </p:spPr>
      </p:sp>
      <p:sp>
        <p:nvSpPr>
          <p:cNvPr id="6" name="Text 4"/>
          <p:cNvSpPr/>
          <p:nvPr/>
        </p:nvSpPr>
        <p:spPr>
          <a:xfrm>
            <a:off x="7172325" y="1610499"/>
            <a:ext cx="285631" cy="357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3188" y="1640205"/>
            <a:ext cx="561963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Sprint 1 (Weeks 1–2) — IoT Sensor Module  Done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43188" y="2331482"/>
            <a:ext cx="5619631" cy="56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 stories | NPK + pH + Moisture + DHT22 + Rainfall API | 16 days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506593" y="2859405"/>
            <a:ext cx="571381" cy="22860"/>
          </a:xfrm>
          <a:prstGeom prst="roundRect">
            <a:avLst>
              <a:gd name="adj" fmla="val 749972"/>
            </a:avLst>
          </a:prstGeom>
          <a:solidFill>
            <a:srgbClr val="CED9CE"/>
          </a:solidFill>
          <a:ln/>
        </p:spPr>
      </p:sp>
      <p:sp>
        <p:nvSpPr>
          <p:cNvPr id="10" name="Shape 8"/>
          <p:cNvSpPr/>
          <p:nvPr/>
        </p:nvSpPr>
        <p:spPr>
          <a:xfrm>
            <a:off x="7100947" y="2656642"/>
            <a:ext cx="428506" cy="428506"/>
          </a:xfrm>
          <a:prstGeom prst="roundRect">
            <a:avLst>
              <a:gd name="adj" fmla="val 40010"/>
            </a:avLst>
          </a:prstGeom>
          <a:solidFill>
            <a:srgbClr val="E8F3E8"/>
          </a:solidFill>
          <a:ln/>
        </p:spPr>
      </p:sp>
      <p:sp>
        <p:nvSpPr>
          <p:cNvPr id="11" name="Text 9"/>
          <p:cNvSpPr/>
          <p:nvPr/>
        </p:nvSpPr>
        <p:spPr>
          <a:xfrm>
            <a:off x="7172325" y="2692301"/>
            <a:ext cx="285631" cy="357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67581" y="2722007"/>
            <a:ext cx="561963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Sprint 2 (Weeks 3–4) — ML Engine + Web App  In Progress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67581" y="3413284"/>
            <a:ext cx="5619631" cy="56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6 stories | RF model 99.2% | FastAPI /predict | React dashboard | User auth | 25 days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552426" y="3813929"/>
            <a:ext cx="571381" cy="22860"/>
          </a:xfrm>
          <a:prstGeom prst="roundRect">
            <a:avLst>
              <a:gd name="adj" fmla="val 749972"/>
            </a:avLst>
          </a:prstGeom>
          <a:solidFill>
            <a:srgbClr val="CED9CE"/>
          </a:solidFill>
          <a:ln/>
        </p:spPr>
      </p:sp>
      <p:sp>
        <p:nvSpPr>
          <p:cNvPr id="15" name="Shape 13"/>
          <p:cNvSpPr/>
          <p:nvPr/>
        </p:nvSpPr>
        <p:spPr>
          <a:xfrm>
            <a:off x="7100947" y="3611166"/>
            <a:ext cx="428506" cy="428506"/>
          </a:xfrm>
          <a:prstGeom prst="roundRect">
            <a:avLst>
              <a:gd name="adj" fmla="val 40010"/>
            </a:avLst>
          </a:prstGeom>
          <a:solidFill>
            <a:srgbClr val="E8F3E8"/>
          </a:solidFill>
          <a:ln/>
        </p:spPr>
      </p:sp>
      <p:sp>
        <p:nvSpPr>
          <p:cNvPr id="16" name="Text 14"/>
          <p:cNvSpPr/>
          <p:nvPr/>
        </p:nvSpPr>
        <p:spPr>
          <a:xfrm>
            <a:off x="7172325" y="3646825"/>
            <a:ext cx="285631" cy="357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3188" y="3676531"/>
            <a:ext cx="561963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Sprint 3 (Weeks 5–6) — Market Layer + Portal  Pending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743188" y="4367808"/>
            <a:ext cx="5619631" cy="56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6 stories | AGMARKNET MSP | Weighted scoring | Govt schemes | Fertiliser advisor | 22 days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506593" y="4768572"/>
            <a:ext cx="571381" cy="22860"/>
          </a:xfrm>
          <a:prstGeom prst="roundRect">
            <a:avLst>
              <a:gd name="adj" fmla="val 749972"/>
            </a:avLst>
          </a:prstGeom>
          <a:solidFill>
            <a:srgbClr val="CED9CE"/>
          </a:solidFill>
          <a:ln/>
        </p:spPr>
      </p:sp>
      <p:sp>
        <p:nvSpPr>
          <p:cNvPr id="20" name="Shape 18"/>
          <p:cNvSpPr/>
          <p:nvPr/>
        </p:nvSpPr>
        <p:spPr>
          <a:xfrm>
            <a:off x="7100947" y="4565809"/>
            <a:ext cx="428506" cy="428506"/>
          </a:xfrm>
          <a:prstGeom prst="roundRect">
            <a:avLst>
              <a:gd name="adj" fmla="val 40010"/>
            </a:avLst>
          </a:prstGeom>
          <a:solidFill>
            <a:srgbClr val="E8F3E8"/>
          </a:solidFill>
          <a:ln/>
        </p:spPr>
      </p:sp>
      <p:sp>
        <p:nvSpPr>
          <p:cNvPr id="21" name="Text 19"/>
          <p:cNvSpPr/>
          <p:nvPr/>
        </p:nvSpPr>
        <p:spPr>
          <a:xfrm>
            <a:off x="7172325" y="4601468"/>
            <a:ext cx="285631" cy="357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67581" y="4631174"/>
            <a:ext cx="561963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Sprint 4 (Weeks 7–8) — Multilingual UI + CropBot  Backlog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8267581" y="5322451"/>
            <a:ext cx="5619631" cy="56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 stories | 4-language UI | WhatsApp/SMS bot | Offline PWA | Profit calculator | 35 days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552426" y="5723215"/>
            <a:ext cx="571381" cy="22860"/>
          </a:xfrm>
          <a:prstGeom prst="roundRect">
            <a:avLst>
              <a:gd name="adj" fmla="val 749972"/>
            </a:avLst>
          </a:prstGeom>
          <a:solidFill>
            <a:srgbClr val="CED9CE"/>
          </a:solidFill>
          <a:ln/>
        </p:spPr>
      </p:sp>
      <p:sp>
        <p:nvSpPr>
          <p:cNvPr id="25" name="Shape 23"/>
          <p:cNvSpPr/>
          <p:nvPr/>
        </p:nvSpPr>
        <p:spPr>
          <a:xfrm>
            <a:off x="7100947" y="5520452"/>
            <a:ext cx="428506" cy="428506"/>
          </a:xfrm>
          <a:prstGeom prst="roundRect">
            <a:avLst>
              <a:gd name="adj" fmla="val 40010"/>
            </a:avLst>
          </a:prstGeom>
          <a:solidFill>
            <a:srgbClr val="E8F3E8"/>
          </a:solidFill>
          <a:ln/>
        </p:spPr>
      </p:sp>
      <p:sp>
        <p:nvSpPr>
          <p:cNvPr id="26" name="Text 24"/>
          <p:cNvSpPr/>
          <p:nvPr/>
        </p:nvSpPr>
        <p:spPr>
          <a:xfrm>
            <a:off x="7172325" y="5556111"/>
            <a:ext cx="285631" cy="357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3188" y="5585817"/>
            <a:ext cx="561963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Sprint 5 (Future) — LoRa + ESP32 Extension  Roadmap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743188" y="6277094"/>
            <a:ext cx="5619631" cy="56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 stories | ESP32 migration | LoRa SX1276 | PM-WANI backhaul | 23 days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43188" y="7289721"/>
            <a:ext cx="13144024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MoSCoW Summary:</a:t>
            </a:r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Must: 14 | Should: 10 | Could: 4 | Won't: 2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5376" y="1393269"/>
            <a:ext cx="12419648" cy="1124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CropXpert — Impact, SDG Alignment &amp; Future Roadmap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105376" y="2874883"/>
            <a:ext cx="2249924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SDG Impact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105376" y="3298865"/>
            <a:ext cx="3804285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SDG 2: Zero Hunger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40% yield loss reduction through precision soil advisory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5376" y="3943826"/>
            <a:ext cx="3804285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SDG 8: Decent Work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Farmer income increase via market-aware crop selection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5376" y="4588788"/>
            <a:ext cx="3804285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SDG 15: Life on Land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Optimised fertiliser use, reduced soil degradation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5376" y="5233749"/>
            <a:ext cx="3804285" cy="774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SDG 9: Innovation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IoT + ML democratised for subsistence farmers at ₹3,600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56384" y="2874883"/>
            <a:ext cx="2654737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Future Roadmap (v2.0)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56384" y="3298865"/>
            <a:ext cx="3804285" cy="2782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LoRa SX1276 field deployment (50 villages, Pune district pilot)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Expand to 50+ crops with ICAR dataset augmentation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Satellite NDVI integration for remote field health monitoring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TensorFlow Lite disease detection from leaf photos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Deployment partnership with KVK (Krishi Vigyan Kendra)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7391" y="2874883"/>
            <a:ext cx="2249924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07391" y="3298865"/>
            <a:ext cx="393287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 99.2% ML accuracy across 22 Indian crops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7391" y="3685580"/>
            <a:ext cx="393287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 7-feature real-time sensor pipeline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7391" y="4072295"/>
            <a:ext cx="393287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 4 Indian languages, 400M+ potential users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7391" y="4459010"/>
            <a:ext cx="393287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 ≈ ₹3,600 complete hardware BOM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7391" y="4845725"/>
            <a:ext cx="393287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 WhatsApp + SMS = zero smartphone barrier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7391" y="5232440"/>
            <a:ext cx="3932873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 Guide Accepted | SRMIST CINTEL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05376" y="6387458"/>
            <a:ext cx="12419648" cy="30004"/>
          </a:xfrm>
          <a:prstGeom prst="rect">
            <a:avLst/>
          </a:prstGeom>
          <a:solidFill>
            <a:srgbClr val="405449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05376" y="6577965"/>
            <a:ext cx="12419648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Empowering every Indian farmer — regardless of language, literacy, or internet — with the intelligence to farm smarter.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2026-02-28T01:46:29Z</dcterms:created>
  <dcterms:modified xsi:type="dcterms:W3CDTF">2026-02-28T01:46:29Z</dcterms:modified>
</cp:coreProperties>
</file>